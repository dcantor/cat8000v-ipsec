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8778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0" i="0">
                <a:solidFill>
                  <a:srgbClr val="FFFFFF"/>
                </a:solidFill>
                <a:latin typeface="Cambria"/>
              </a:rPr>
              <a:t>The VPN Provisioning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C7D2E4"/>
                </a:solidFill>
                <a:latin typeface="Calibri"/>
              </a:rPr>
              <a:t>An executive overview of the workflows — every screen an operator touches,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FA3BF"/>
                </a:solidFill>
                <a:latin typeface="Calibri"/>
              </a:rPr>
              <a:t>Managed IPsec VPN service · Catalyst 8000v VTI + eBGP · Nautobot source of truth · Network-as-Code (Terraform) · Robot Framework validation</a:t>
            </a:r>
          </a:p>
        </p:txBody>
      </p:sp>
      <p:sp>
        <p:nvSpPr>
          <p:cNvPr id="6" name="Oval 5"/>
          <p:cNvSpPr/>
          <p:nvPr/>
        </p:nvSpPr>
        <p:spPr>
          <a:xfrm>
            <a:off x="10195560" y="2057400"/>
            <a:ext cx="1143000" cy="114300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2395728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1472" y="33101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2E4"/>
                </a:solidFill>
                <a:latin typeface="Calibri"/>
              </a:rPr>
              <a:t>workflows, one 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B1020"/>
                </a:solidFill>
                <a:latin typeface="Cambria"/>
              </a:rPr>
              <a:t>What the portal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Calibri"/>
              </a:rPr>
              <a:t>The live service, as the portal itself reports it — every number below is read from the routers and from Nautobot, never typed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606040" cy="1874519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C2410C"/>
                </a:solidFill>
                <a:latin typeface="Cambria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B1020"/>
                </a:solidFill>
                <a:latin typeface="Calibri"/>
              </a:rPr>
              <a:t>routers onboarded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alibri"/>
              </a:rPr>
              <a:t>3 headends · 4 branches · firewalls, hosts and the interconnect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606040" cy="1874519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57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C2410C"/>
                </a:solidFill>
                <a:latin typeface="Cambria"/>
              </a:rPr>
              <a:t>10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B1020"/>
                </a:solidFill>
                <a:latin typeface="Calibri"/>
              </a:rPr>
              <a:t>tunnels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03580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alibri"/>
              </a:rPr>
              <a:t>one static IPsec VTI per branch per headend, each with eBGP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2606040" cy="1874519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C2410C"/>
                </a:solidFill>
                <a:latin typeface="Cambria"/>
              </a:rPr>
              <a:t>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B1020"/>
                </a:solidFill>
                <a:latin typeface="Calibri"/>
              </a:rPr>
              <a:t>tests per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3580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alibri"/>
              </a:rPr>
              <a:t>the Robot Framework suites run at the end of a job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874519"/>
            <a:ext cx="2606040" cy="1874519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2057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C2410C"/>
                </a:solidFill>
                <a:latin typeface="Cambria"/>
              </a:rPr>
              <a:t>~15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B1020"/>
                </a:solidFill>
                <a:latin typeface="Calibri"/>
              </a:rPr>
              <a:t>to add a 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303580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alibri"/>
              </a:rPr>
              <a:t>VM, onboarding, model, Terraform apply and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69080"/>
            <a:ext cx="10817352" cy="2057400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10149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The portal is the only place the service is changed.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An operator states intent on a form; the portal writes it to the intent document, seeds Nautobot, renders the Network-as-Code data from Nautobot, plans and applies Terraform against the routers, then runs the test suites and keeps the evidence. Nobody logs into a router to make a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0B1020"/>
                </a:solidFill>
                <a:latin typeface="Cambria"/>
              </a:rPr>
              <a:t>One screen: “what do you want to do?”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The Provision tab opens on the task, not on a form. Each card says what the job does, how long it takes and who may start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54296" y="1728216"/>
            <a:ext cx="6510528" cy="4224528"/>
          </a:xfrm>
          <a:prstGeom prst="roundRect">
            <a:avLst>
              <a:gd name="adj" fmla="val 112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rtal-pro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83080"/>
            <a:ext cx="6400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9160" y="604418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Provision — the task launcher; every card is one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657600" cy="41148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11680"/>
            <a:ext cx="3145536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 i="0">
                <a:solidFill>
                  <a:srgbClr val="667085"/>
                </a:solidFill>
                <a:latin typeface="Calibri"/>
              </a:rPr>
              <a:t>BUILD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Add a branch · Add a headend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 i="0">
                <a:solidFill>
                  <a:srgbClr val="667085"/>
                </a:solidFill>
                <a:latin typeface="Calibri"/>
              </a:rPr>
              <a:t>CHANGE A BRANCH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Change IKE authentication · Rotate a pre-shared key · Renew a certificate · Re-home · Remove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 i="0">
                <a:solidFill>
                  <a:srgbClr val="667085"/>
                </a:solidFill>
                <a:latin typeface="Calibri"/>
              </a:rPr>
              <a:t>THE WHOLE SERVICE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Deploy the model · Dry run · Run the tests · Edit the service model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 i="0">
                <a:solidFill>
                  <a:srgbClr val="667085"/>
                </a:solidFill>
                <a:latin typeface="Calibri"/>
              </a:rPr>
              <a:t>CONFIGURATION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Check for drift · See what is running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Calibri"/>
              </a:rPr>
              <a:t>Each card carries its own duration and the role it needs — five minutes to rotate a key, about fifteen to build a branch, and an approver before anything is removed.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0B1020"/>
                </a:solidFill>
                <a:latin typeface="Cambria"/>
              </a:rPr>
              <a:t>Every job looks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Pick a task, review what it will do, then watch it run on its own page — steps, live log, tests, ticket.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728216"/>
            <a:ext cx="6581648" cy="4270248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rtal-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647192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89904"/>
            <a:ext cx="647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A finished job: nine steps, 74/74 tests, who started it and against which change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23480" y="1783080"/>
            <a:ext cx="3982415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7800" y="2011680"/>
            <a:ext cx="3433775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B1020"/>
                </a:solidFill>
                <a:latin typeface="Calibri"/>
              </a:rPr>
              <a:t>What that gives you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One job at a time — two changes can never race each other on the same router.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Every step names what it did: how many objects Nautobot changed, what Terraform added and destroyed.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failed job resumes from the failed step; the successful steps are not repeated.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tests are part of the job, not an afterthought — the evidence is attached to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38912"/>
            <a:ext cx="1008857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B1020"/>
                </a:solidFill>
                <a:latin typeface="Cambria"/>
              </a:rPr>
              <a:t>Add a branch — who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51560"/>
            <a:ext cx="100885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The wizard opens with the identity of the new site; the fields it can work out, it fills 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636776"/>
            <a:ext cx="6396228" cy="4453128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al-wizard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28650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81344"/>
            <a:ext cx="62865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Step 1 of 3 — name, site, customer, and the headends this branch will 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3779" y="1691640"/>
            <a:ext cx="4122115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9811" y="1920240"/>
            <a:ext cx="3610051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B1020"/>
                </a:solidFill>
                <a:latin typeface="Calibri"/>
              </a:rPr>
              <a:t>What happens here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branch name and its customer come from the service model; the portal checks the name is free in Nautobot and in the lab.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Choosing two headends is what makes the branch dual-homed — the wizard will allocate a tunnel to each.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Nothing is created yet. Cancel costs nothing.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38912"/>
            <a:ext cx="1008857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B1020"/>
                </a:solidFill>
                <a:latin typeface="Cambria"/>
              </a:rPr>
              <a:t>Add a branch — where it lives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51560"/>
            <a:ext cx="100885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Addressing is allocated for you: router-id, LAN, AS number, ports, WAN /30s and tunnel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636776"/>
            <a:ext cx="7516367" cy="3611048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al-wizard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7406640" cy="3501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39264"/>
            <a:ext cx="7406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Step 2 of 3 — every field suggested from the next free value, and editable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19" y="1691640"/>
            <a:ext cx="3001975" cy="350132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9951" y="1920240"/>
            <a:ext cx="2489911" cy="3044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B1020"/>
                </a:solidFill>
                <a:latin typeface="Calibri"/>
              </a:rPr>
              <a:t>Allocation, not arithmetic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Each headend line shows the free ports on its firewall and how many tunnel slots remain — capacity is part of the form.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convention is stated where it is applied: the hub takes the first address of each /30, the spoke the second.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Change any value and the portal re-validates it against the live lab, not against a stale copy.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38912"/>
            <a:ext cx="1008857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B1020"/>
                </a:solidFill>
                <a:latin typeface="Cambria"/>
              </a:rPr>
              <a:t>Add a branch — confirm, then provision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51560"/>
            <a:ext cx="100885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The last step is the whole change in one place: what will be created, on which devices, under which ticket.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636776"/>
            <a:ext cx="6745477" cy="4453128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al-wizard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635749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81344"/>
            <a:ext cx="66357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Step 3 of 3 — review and provision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33029" y="1691640"/>
            <a:ext cx="3772865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9061" y="1920240"/>
            <a:ext cx="3260801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B1020"/>
                </a:solidFill>
                <a:latin typeface="Calibri"/>
              </a:rPr>
              <a:t>One button, one job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change ticket is required: it travels with the job and appears in the audit trail.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Provisioning is one job — VM, onboarding, Nautobot, Terraform on both ends, then the tests.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About fifteen minutes later the branch is carrying traffic and the tests say 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38912"/>
            <a:ext cx="1008857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B1020"/>
                </a:solidFill>
                <a:latin typeface="Cambria"/>
              </a:rPr>
              <a:t>Add a branch — watch it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51560"/>
            <a:ext cx="100885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The job page streams each step as it completes, with what that step actually 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636776"/>
            <a:ext cx="8988257" cy="4041648"/>
          </a:xfrm>
          <a:prstGeom prst="roundRect">
            <a:avLst>
              <a:gd name="adj" fmla="val 81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al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8878529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769864"/>
            <a:ext cx="887852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The pipeline: validate intent → save intent → seed Nautobot → render NaC → Terraform plan → apply →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Calibri"/>
              </a:rPr>
              <a:t>Recent runs sit beside it: mode, who started it, the ticket and the outcome.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B1020"/>
                </a:solidFill>
                <a:latin typeface="Cambria"/>
              </a:rPr>
              <a:t>Add a headend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The same shape of form for the other direction: a new ACME headend, linked to every branch you choose.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7333488" cy="4291904"/>
          </a:xfrm>
          <a:prstGeom prst="roundRect">
            <a:avLst>
              <a:gd name="adj" fmla="val 997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rtal-add-head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7223760" cy="41821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20120"/>
            <a:ext cx="7223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Every value suggested — identity, WAN link, firewall ports and a tunnel per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91640"/>
            <a:ext cx="3184855" cy="4182176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920240"/>
            <a:ext cx="2672791" cy="3724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B1020"/>
                </a:solidFill>
                <a:latin typeface="Calibri"/>
              </a:rPr>
              <a:t>The other direction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headend is the heavier job (about twenty minutes): a new router, a new firewall link, and a tunnel added at both ends of every branch it serves.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wizard allocates the tunnel numbers and /30s for each branch at once, so the mesh stays consistent.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same pipeline runs it, and the same tests prove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0B1020"/>
                </a:solidFill>
                <a:latin typeface="Cambria"/>
              </a:rPr>
              <a:t>Change a branch,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Day-two work is a short job with a narrow blast radius — one branch, one property, one ticket.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728216"/>
            <a:ext cx="4755469" cy="331012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rtal-change-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4645741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111496"/>
            <a:ext cx="464574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Change IKE authentication — pre-shared key ↔ certificate from the lab 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216" y="2222823"/>
            <a:ext cx="5230368" cy="2320913"/>
          </a:xfrm>
          <a:prstGeom prst="roundRect">
            <a:avLst>
              <a:gd name="adj" fmla="val 1398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rtal-task-p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77687"/>
            <a:ext cx="5120640" cy="22111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511149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Every per-branch task starts by asking which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50408"/>
            <a:ext cx="10789920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Moving a branch to certificates re-enrols it with the CA, swaps the IKEv2 profile, keyring and trustpoint, clears the security associations and waits for every tunnel to re-authenticate — nine steps, and the tests at the end.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Rotating a pre-shared key is the same idea in five minutes: a new key on the branch and on every headend that serves it, then the SAs are cleared and the tunnels verified.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B1020"/>
                </a:solidFill>
                <a:latin typeface="Cambria"/>
              </a:rPr>
              <a:t>Remove a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Decommissioning says what it is about to delete before it deletes anything — and needs an approver.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876288" cy="4320032"/>
          </a:xfrm>
          <a:prstGeom prst="roundRect">
            <a:avLst>
              <a:gd name="adj" fmla="val 1063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rtal-re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766560" cy="4210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48248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The confirmation lists the router, the tunnels, the Nautobot objects and the Terraform state that will 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91640"/>
            <a:ext cx="3642055" cy="4210304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1" y="1920240"/>
            <a:ext cx="3129991" cy="3753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B1020"/>
                </a:solidFill>
                <a:latin typeface="Calibri"/>
              </a:rPr>
              <a:t>Guarded by design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Only a user with the approver role may start it; an operator sees the card but cannot run it.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reverse of provisioning, in the same order: tunnels dropped at both ends, objects removed from Nautobot, lab.conf and Terraform state cleaned, the VM deleted.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job and its log stay in the ledger afterwards.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B1020"/>
                </a:solidFill>
                <a:latin typeface="Cambria"/>
              </a:rPr>
              <a:t>The ledger: every job the portal has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Jobs is the operational record — what ran, against what, by whom, for how long, and whether the tests passed.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822762" cy="4041648"/>
          </a:xfrm>
          <a:prstGeom prst="roundRect">
            <a:avLst>
              <a:gd name="adj" fmla="val 1072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rtal-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713034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769864"/>
            <a:ext cx="671303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Filterable by status, job type and target; a failed job offers Resume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691640"/>
            <a:ext cx="3001975" cy="3931920"/>
          </a:xfrm>
          <a:prstGeom prst="roundRect">
            <a:avLst>
              <a:gd name="adj" fmla="val 279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920240"/>
            <a:ext cx="2489911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B1020"/>
                </a:solidFill>
                <a:latin typeface="Calibri"/>
              </a:rPr>
              <a:t>The record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Thirty jobs kept · twenty-five succeeded · seventy-four tests run in them — the portal's own counters.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Every row carries its change ticket, so the record matches the change-management system.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failed job keeps its successful steps and offers Resume rather than a fresh start.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B1020"/>
                </a:solidFill>
                <a:latin typeface="Cambria"/>
              </a:rPr>
              <a:t>The service as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Home is the daily view: capacity and health first, the live topology below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866128" cy="4453128"/>
          </a:xfrm>
          <a:prstGeom prst="roundRect">
            <a:avLst>
              <a:gd name="adj" fmla="val 1065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rtal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7564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181344"/>
            <a:ext cx="675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Tunnels up, headend CPU, firewall bandwidth and free tunnel slots — then the map, coloured by live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53680" y="1691640"/>
            <a:ext cx="3652215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9711" y="1920240"/>
            <a:ext cx="3140151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B1020"/>
                </a:solidFill>
                <a:latin typeface="Calibri"/>
              </a:rPr>
              <a:t>Capacity, not guesswork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Every tile is collected from the routers and the firewalls, with the time of collection shown; nothing is cached silently.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topology is drawn from Nautobot and coloured live: a degraded tunnel is visible before anyone reports it.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Free tunnel slots and spare firewall bandwidth are the numbers that decide whether the next branch fits.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B1020"/>
                </a:solidFill>
                <a:latin typeface="Cambria"/>
              </a:rPr>
              <a:t>Drift, and what to do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Golden Config renders the intended configuration from Nautobot and compares it with what each router is actually running.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866128" cy="4453128"/>
          </a:xfrm>
          <a:prstGeom prst="roundRect">
            <a:avLst>
              <a:gd name="adj" fmla="val 1065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rtal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7564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181344"/>
            <a:ext cx="675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Per-device compliance with the differences, remediation and re-apply as jobs of their 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53680" y="1691640"/>
            <a:ext cx="3652215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9711" y="1920240"/>
            <a:ext cx="3140151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B1020"/>
                </a:solidFill>
                <a:latin typeface="Calibri"/>
              </a:rPr>
              <a:t>Two ways back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scheduled run keeps the comparison current; the page shows when it last ran and what it found.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Remediate pushes only the difference; Re-apply pushes the whole intended configuration — both are ordinary jobs with logs and tests.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Drift history is kept, so 'when did this device start differing?' has an answer.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Cambria"/>
              </a:rPr>
              <a:t>What the UI is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401568" cy="2514600"/>
          </a:xfrm>
          <a:prstGeom prst="roundRect">
            <a:avLst>
              <a:gd name="adj" fmla="val 3225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12848"/>
            <a:ext cx="2852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mbria"/>
              </a:rPr>
              <a:t>Anyone can run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28529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C7D2E4"/>
                </a:solidFill>
                <a:latin typeface="Calibri"/>
              </a:rPr>
              <a:t>The knowledge is in the forms, not in an engineer's head: every value is suggested from the model and validated against the live lab before anything is applied.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401568" cy="2514600"/>
          </a:xfrm>
          <a:prstGeom prst="roundRect">
            <a:avLst>
              <a:gd name="adj" fmla="val 3225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212848"/>
            <a:ext cx="2852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mbria"/>
              </a:rPr>
              <a:t>Nothing happens off the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788920"/>
            <a:ext cx="28529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C7D2E4"/>
                </a:solidFill>
                <a:latin typeface="Calibri"/>
              </a:rPr>
              <a:t>Sign-in, role, change ticket, the steps, the log and the test report are kept with the job. The audit page lists every action the portal took.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965960"/>
            <a:ext cx="3401568" cy="2514600"/>
          </a:xfrm>
          <a:prstGeom prst="roundRect">
            <a:avLst>
              <a:gd name="adj" fmla="val 3225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2212848"/>
            <a:ext cx="2852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mbria"/>
              </a:rPr>
              <a:t>The model stays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2788920"/>
            <a:ext cx="28529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C7D2E4"/>
                </a:solidFill>
                <a:latin typeface="Calibri"/>
              </a:rPr>
              <a:t>Golden Config compares the routers against what Nautobot says they should be; drift is visible on one page and remediated as a job of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FA3BF"/>
                </a:solidFill>
                <a:latin typeface="Calibri"/>
              </a:rPr>
              <a:t>The portal is at http://192.168.50.231:8090 — Provision to start a job, Jobs to see every one that has run, Home for the service as it stands. The full specification (115 requirements) is docs/requirements.pdf.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